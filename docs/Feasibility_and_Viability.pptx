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7145000" cy="7886700"/>
  <p:notesSz cx="7886700" cy="17145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and viability summary: technical, economic, operational readiness on the left; measured evidence — colour accuracy, replay-attack refusal, classifier robustness, and headline achievements —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0500" y="190500"/>
            <a:ext cx="7524750" cy="7353300"/>
          </a:xfrm>
          <a:prstGeom prst="roundRect">
            <a:avLst>
              <a:gd name="adj" fmla="val 1813"/>
            </a:avLst>
          </a:prstGeom>
          <a:solidFill>
            <a:srgbClr val="EAF1F8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190500"/>
            <a:ext cx="7524750" cy="4572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245046"/>
            <a:ext cx="7858125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09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381000" y="463153"/>
            <a:ext cx="7858125" cy="16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788" dirty="0">
                <a:solidFill>
                  <a:srgbClr val="D9E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hardware · works with kits already purchased · a working core already exists</a:t>
            </a:r>
            <a:endParaRPr lang="en-US" sz="788" dirty="0"/>
          </a:p>
        </p:txBody>
      </p:sp>
      <p:sp>
        <p:nvSpPr>
          <p:cNvPr id="6" name="Shape 4"/>
          <p:cNvSpPr/>
          <p:nvPr/>
        </p:nvSpPr>
        <p:spPr>
          <a:xfrm>
            <a:off x="7943850" y="190500"/>
            <a:ext cx="9010650" cy="7353300"/>
          </a:xfrm>
          <a:prstGeom prst="roundRect">
            <a:avLst>
              <a:gd name="adj" fmla="val 1813"/>
            </a:avLst>
          </a:prstGeom>
          <a:solidFill>
            <a:srgbClr val="EAF1F8"/>
          </a:solidFill>
          <a:ln/>
        </p:spPr>
      </p:sp>
      <p:sp>
        <p:nvSpPr>
          <p:cNvPr id="7" name="Shape 5"/>
          <p:cNvSpPr/>
          <p:nvPr/>
        </p:nvSpPr>
        <p:spPr>
          <a:xfrm>
            <a:off x="7943850" y="190500"/>
            <a:ext cx="9010650" cy="4572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" name="Text 6"/>
          <p:cNvSpPr/>
          <p:nvPr/>
        </p:nvSpPr>
        <p:spPr>
          <a:xfrm>
            <a:off x="8134350" y="245046"/>
            <a:ext cx="9492615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209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— NOT PROJECTED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8134350" y="463153"/>
            <a:ext cx="9492615" cy="16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788" dirty="0">
                <a:solidFill>
                  <a:srgbClr val="D9EB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below is produced by our own tools and reproducible from one command</a:t>
            </a:r>
            <a:endParaRPr lang="en-US" sz="788" dirty="0"/>
          </a:p>
        </p:txBody>
      </p:sp>
      <p:sp>
        <p:nvSpPr>
          <p:cNvPr id="10" name="Shape 8"/>
          <p:cNvSpPr/>
          <p:nvPr/>
        </p:nvSpPr>
        <p:spPr>
          <a:xfrm>
            <a:off x="381000" y="781050"/>
            <a:ext cx="23050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0050" y="800100"/>
            <a:ext cx="2266950" cy="251445"/>
          </a:xfrm>
          <a:prstGeom prst="rect">
            <a:avLst/>
          </a:prstGeom>
          <a:solidFill>
            <a:srgbClr val="0070C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" y="859110"/>
            <a:ext cx="133350" cy="1333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04850" y="857250"/>
            <a:ext cx="77941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900" b="1" spc="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14350" y="1127745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Phone camera + one printed card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514350" y="1325389"/>
            <a:ext cx="2114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0.50 ΔE2000 accuracy on 28 real camera sensors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514350" y="1673051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379 automated tests, all passing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514350" y="1870695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Two independent verifiers that agree</a:t>
            </a:r>
            <a:endParaRPr lang="en-US" sz="788" dirty="0"/>
          </a:p>
        </p:txBody>
      </p:sp>
      <p:sp>
        <p:nvSpPr>
          <p:cNvPr id="18" name="Shape 15"/>
          <p:cNvSpPr/>
          <p:nvPr/>
        </p:nvSpPr>
        <p:spPr>
          <a:xfrm>
            <a:off x="2800350" y="781050"/>
            <a:ext cx="23050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19400" y="800100"/>
            <a:ext cx="2266950" cy="251445"/>
          </a:xfrm>
          <a:prstGeom prst="rect">
            <a:avLst/>
          </a:prstGeom>
          <a:solidFill>
            <a:srgbClr val="0070C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3700" y="859110"/>
            <a:ext cx="133350" cy="1333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124200" y="857250"/>
            <a:ext cx="7429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900" b="1" spc="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933700" y="1127745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≈ ₹5 per card, matte A4, 4-up</a:t>
            </a:r>
            <a:endParaRPr lang="en-US" sz="788" dirty="0"/>
          </a:p>
        </p:txBody>
      </p:sp>
      <p:sp>
        <p:nvSpPr>
          <p:cNvPr id="23" name="Text 19"/>
          <p:cNvSpPr/>
          <p:nvPr/>
        </p:nvSpPr>
        <p:spPr>
          <a:xfrm>
            <a:off x="2933700" y="1343174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procurement, no new devices</a:t>
            </a:r>
            <a:endParaRPr lang="en-US" sz="788" dirty="0"/>
          </a:p>
        </p:txBody>
      </p:sp>
      <p:sp>
        <p:nvSpPr>
          <p:cNvPr id="24" name="Text 20"/>
          <p:cNvSpPr/>
          <p:nvPr/>
        </p:nvSpPr>
        <p:spPr>
          <a:xfrm>
            <a:off x="2933700" y="1558603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Reprints locally, no supply chain</a:t>
            </a:r>
            <a:endParaRPr lang="en-US" sz="788" dirty="0"/>
          </a:p>
        </p:txBody>
      </p:sp>
      <p:sp>
        <p:nvSpPr>
          <p:cNvPr id="25" name="Text 21"/>
          <p:cNvSpPr/>
          <p:nvPr/>
        </p:nvSpPr>
        <p:spPr>
          <a:xfrm>
            <a:off x="2933700" y="1774031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Kit-agnostic, no vendor lock-in</a:t>
            </a:r>
            <a:endParaRPr lang="en-US" sz="788" dirty="0"/>
          </a:p>
        </p:txBody>
      </p:sp>
      <p:sp>
        <p:nvSpPr>
          <p:cNvPr id="26" name="Shape 22"/>
          <p:cNvSpPr/>
          <p:nvPr/>
        </p:nvSpPr>
        <p:spPr>
          <a:xfrm>
            <a:off x="5219700" y="781050"/>
            <a:ext cx="23050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238750" y="800100"/>
            <a:ext cx="2266950" cy="251445"/>
          </a:xfrm>
          <a:prstGeom prst="rect">
            <a:avLst/>
          </a:prstGeom>
          <a:solidFill>
            <a:srgbClr val="0070C0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3050" y="859110"/>
            <a:ext cx="133350" cy="13335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543550" y="857250"/>
            <a:ext cx="95197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900" b="1" spc="3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353050" y="1127745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Runs fully offline (NDPS reality)</a:t>
            </a:r>
            <a:endParaRPr lang="en-US" sz="788" dirty="0"/>
          </a:p>
        </p:txBody>
      </p:sp>
      <p:sp>
        <p:nvSpPr>
          <p:cNvPr id="31" name="Text 26"/>
          <p:cNvSpPr/>
          <p:nvPr/>
        </p:nvSpPr>
        <p:spPr>
          <a:xfrm>
            <a:off x="5353050" y="1343174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Any issued Android handset</a:t>
            </a:r>
            <a:endParaRPr lang="en-US" sz="788" dirty="0"/>
          </a:p>
        </p:txBody>
      </p:sp>
      <p:sp>
        <p:nvSpPr>
          <p:cNvPr id="32" name="Text 27"/>
          <p:cNvSpPr/>
          <p:nvPr/>
        </p:nvSpPr>
        <p:spPr>
          <a:xfrm>
            <a:off x="5353050" y="1558603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Plugs into eSakshya / CCTNS-2.0</a:t>
            </a:r>
            <a:endParaRPr lang="en-US" sz="788" dirty="0"/>
          </a:p>
        </p:txBody>
      </p:sp>
      <p:sp>
        <p:nvSpPr>
          <p:cNvPr id="33" name="Text 28"/>
          <p:cNvSpPr/>
          <p:nvPr/>
        </p:nvSpPr>
        <p:spPr>
          <a:xfrm>
            <a:off x="5353050" y="1774031"/>
            <a:ext cx="224218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Two frames ~10mm apart, ~8 seconds</a:t>
            </a:r>
            <a:endParaRPr lang="en-US" sz="788" dirty="0"/>
          </a:p>
        </p:txBody>
      </p:sp>
      <p:sp>
        <p:nvSpPr>
          <p:cNvPr id="34" name="Text 29"/>
          <p:cNvSpPr/>
          <p:nvPr/>
        </p:nvSpPr>
        <p:spPr>
          <a:xfrm>
            <a:off x="381000" y="2133600"/>
            <a:ext cx="7858125" cy="232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15"/>
              </a:lnSpc>
              <a:buNone/>
            </a:pPr>
            <a:r>
              <a:rPr lang="en-US" sz="1275" b="1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CHALLENGES, AND WHAT WE DID ABOUT THEM</a:t>
            </a:r>
            <a:endParaRPr lang="en-US" sz="1275" dirty="0"/>
          </a:p>
        </p:txBody>
      </p:sp>
      <p:sp>
        <p:nvSpPr>
          <p:cNvPr id="35" name="Text 30"/>
          <p:cNvSpPr/>
          <p:nvPr/>
        </p:nvSpPr>
        <p:spPr>
          <a:xfrm>
            <a:off x="381000" y="2362200"/>
            <a:ext cx="2266950" cy="584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938" b="1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Replay: photographing a print or a screen</a:t>
            </a:r>
            <a:endParaRPr lang="en-US" sz="938" dirty="0"/>
          </a:p>
        </p:txBody>
      </p:sp>
      <p:sp>
        <p:nvSpPr>
          <p:cNvPr id="36" name="Shape 31"/>
          <p:cNvSpPr/>
          <p:nvPr/>
        </p:nvSpPr>
        <p:spPr>
          <a:xfrm>
            <a:off x="2705100" y="2362200"/>
            <a:ext cx="4819650" cy="546199"/>
          </a:xfrm>
          <a:prstGeom prst="roundRect">
            <a:avLst>
              <a:gd name="adj" fmla="val 13951"/>
            </a:avLst>
          </a:prstGeom>
          <a:solidFill>
            <a:srgbClr val="FFFFFF"/>
          </a:solidFill>
          <a:ln w="19050">
            <a:solidFill>
              <a:srgbClr val="A32C4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857500" y="2476500"/>
            <a:ext cx="4650296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863" b="1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SOLVED. </a:t>
            </a:r>
            <a:pPr algn="l" indent="0" marL="0">
              <a:lnSpc>
                <a:spcPct val="123519"/>
              </a:lnSpc>
              <a:buNone/>
            </a:pPr>
            <a:r>
              <a:rPr lang="en-US" sz="863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Two-view parallax against a folded 8mm tab. A print gives under 1% of the required depth.</a:t>
            </a:r>
            <a:endParaRPr lang="en-US" sz="863" dirty="0"/>
          </a:p>
        </p:txBody>
      </p:sp>
      <p:sp>
        <p:nvSpPr>
          <p:cNvPr id="38" name="Text 33"/>
          <p:cNvSpPr/>
          <p:nvPr/>
        </p:nvSpPr>
        <p:spPr>
          <a:xfrm>
            <a:off x="381000" y="3314700"/>
            <a:ext cx="2266950" cy="584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938" b="1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synchronised stereo replay</a:t>
            </a:r>
            <a:endParaRPr lang="en-US" sz="938" dirty="0"/>
          </a:p>
        </p:txBody>
      </p:sp>
      <p:sp>
        <p:nvSpPr>
          <p:cNvPr id="39" name="Shape 34"/>
          <p:cNvSpPr/>
          <p:nvPr/>
        </p:nvSpPr>
        <p:spPr>
          <a:xfrm>
            <a:off x="2705100" y="3314700"/>
            <a:ext cx="4819650" cy="546199"/>
          </a:xfrm>
          <a:prstGeom prst="roundRect">
            <a:avLst>
              <a:gd name="adj" fmla="val 13951"/>
            </a:avLst>
          </a:prstGeom>
          <a:solidFill>
            <a:srgbClr val="FFFFFF"/>
          </a:solidFill>
          <a:ln w="19050">
            <a:solidFill>
              <a:srgbClr val="A32C4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2857500" y="3429000"/>
            <a:ext cx="4650296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863" b="1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SOLVED, </a:t>
            </a:r>
            <a:pPr algn="l" indent="0" marL="0">
              <a:lnSpc>
                <a:spcPct val="123519"/>
              </a:lnSpc>
              <a:buNone/>
            </a:pPr>
            <a:r>
              <a:rPr lang="en-US" sz="863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stated as such. Needs the genuine stereo pair and playback synced to a capture the attacker cannot time.</a:t>
            </a:r>
            <a:endParaRPr lang="en-US" sz="863" dirty="0"/>
          </a:p>
        </p:txBody>
      </p:sp>
      <p:sp>
        <p:nvSpPr>
          <p:cNvPr id="41" name="Text 36"/>
          <p:cNvSpPr/>
          <p:nvPr/>
        </p:nvSpPr>
        <p:spPr>
          <a:xfrm>
            <a:off x="381000" y="4267200"/>
            <a:ext cx="2266950" cy="584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938" b="1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reagent dataset exists</a:t>
            </a:r>
            <a:endParaRPr lang="en-US" sz="938" dirty="0"/>
          </a:p>
        </p:txBody>
      </p:sp>
      <p:sp>
        <p:nvSpPr>
          <p:cNvPr id="42" name="Shape 37"/>
          <p:cNvSpPr/>
          <p:nvPr/>
        </p:nvSpPr>
        <p:spPr>
          <a:xfrm>
            <a:off x="2705100" y="4267200"/>
            <a:ext cx="4819650" cy="546199"/>
          </a:xfrm>
          <a:prstGeom prst="roundRect">
            <a:avLst>
              <a:gd name="adj" fmla="val 13951"/>
            </a:avLst>
          </a:prstGeom>
          <a:solidFill>
            <a:srgbClr val="FFFFFF"/>
          </a:solidFill>
          <a:ln w="19050">
            <a:solidFill>
              <a:srgbClr val="A66A0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857500" y="4381500"/>
            <a:ext cx="4650296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863" b="1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Mitigated. </a:t>
            </a:r>
            <a:pPr algn="l" indent="0" marL="0">
              <a:lnSpc>
                <a:spcPct val="123519"/>
              </a:lnSpc>
              <a:buNone/>
            </a:pPr>
            <a:r>
              <a:rPr lang="en-US" sz="863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 colour ladders. Substituting NCB standards is a data change, not an architecture change.</a:t>
            </a:r>
            <a:endParaRPr lang="en-US" sz="863" dirty="0"/>
          </a:p>
        </p:txBody>
      </p:sp>
      <p:sp>
        <p:nvSpPr>
          <p:cNvPr id="44" name="Text 39"/>
          <p:cNvSpPr/>
          <p:nvPr/>
        </p:nvSpPr>
        <p:spPr>
          <a:xfrm>
            <a:off x="381000" y="5219700"/>
            <a:ext cx="2266950" cy="584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938" b="1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StrongBox missing on some issued handsets</a:t>
            </a:r>
            <a:endParaRPr lang="en-US" sz="938" dirty="0"/>
          </a:p>
        </p:txBody>
      </p:sp>
      <p:sp>
        <p:nvSpPr>
          <p:cNvPr id="45" name="Shape 40"/>
          <p:cNvSpPr/>
          <p:nvPr/>
        </p:nvSpPr>
        <p:spPr>
          <a:xfrm>
            <a:off x="2705100" y="5219700"/>
            <a:ext cx="4819650" cy="546199"/>
          </a:xfrm>
          <a:prstGeom prst="roundRect">
            <a:avLst>
              <a:gd name="adj" fmla="val 13951"/>
            </a:avLst>
          </a:prstGeom>
          <a:solidFill>
            <a:srgbClr val="FFFFFF"/>
          </a:solidFill>
          <a:ln w="19050">
            <a:solidFill>
              <a:srgbClr val="A66A00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857500" y="5334000"/>
            <a:ext cx="4650296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863" b="1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Mitigated. </a:t>
            </a:r>
            <a:pPr algn="l" indent="0" marL="0">
              <a:lnSpc>
                <a:spcPct val="123519"/>
              </a:lnSpc>
              <a:buNone/>
            </a:pPr>
            <a:r>
              <a:rPr lang="en-US" sz="863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 fallback, and the weaker guarantee is written into the record rather than glossed over.</a:t>
            </a:r>
            <a:endParaRPr lang="en-US" sz="863" dirty="0"/>
          </a:p>
        </p:txBody>
      </p:sp>
      <p:sp>
        <p:nvSpPr>
          <p:cNvPr id="47" name="Text 42"/>
          <p:cNvSpPr/>
          <p:nvPr/>
        </p:nvSpPr>
        <p:spPr>
          <a:xfrm>
            <a:off x="381000" y="6172200"/>
            <a:ext cx="2266950" cy="584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6379"/>
              </a:lnSpc>
              <a:buNone/>
            </a:pPr>
            <a:r>
              <a:rPr lang="en-US" sz="938" b="1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light producing a confident wrong answer</a:t>
            </a:r>
            <a:endParaRPr lang="en-US" sz="938" dirty="0"/>
          </a:p>
        </p:txBody>
      </p:sp>
      <p:sp>
        <p:nvSpPr>
          <p:cNvPr id="48" name="Shape 43"/>
          <p:cNvSpPr/>
          <p:nvPr/>
        </p:nvSpPr>
        <p:spPr>
          <a:xfrm>
            <a:off x="2705100" y="6172200"/>
            <a:ext cx="4819650" cy="546199"/>
          </a:xfrm>
          <a:prstGeom prst="roundRect">
            <a:avLst>
              <a:gd name="adj" fmla="val 13951"/>
            </a:avLst>
          </a:prstGeom>
          <a:solidFill>
            <a:srgbClr val="FFFFFF"/>
          </a:solidFill>
          <a:ln w="19050">
            <a:solidFill>
              <a:srgbClr val="0F7B6C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2857500" y="6286500"/>
            <a:ext cx="4650296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519"/>
              </a:lnSpc>
              <a:buNone/>
            </a:pPr>
            <a:r>
              <a:rPr lang="en-US" sz="863" b="1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SOLVED. </a:t>
            </a:r>
            <a:pPr algn="l" indent="0" marL="0">
              <a:lnSpc>
                <a:spcPct val="123519"/>
              </a:lnSpc>
              <a:buNone/>
            </a:pPr>
            <a:r>
              <a:rPr lang="en-US" sz="863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+ conformal abstention. All 83 stress conditions correctly handled — risky frames are refused, never guessed.</a:t>
            </a:r>
            <a:endParaRPr lang="en-US" sz="863" dirty="0"/>
          </a:p>
        </p:txBody>
      </p:sp>
      <p:sp>
        <p:nvSpPr>
          <p:cNvPr id="50" name="Text 45"/>
          <p:cNvSpPr/>
          <p:nvPr/>
        </p:nvSpPr>
        <p:spPr>
          <a:xfrm>
            <a:off x="8134350" y="781050"/>
            <a:ext cx="94926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accuracy on 28 real cameras</a:t>
            </a:r>
            <a:endParaRPr lang="en-US" sz="1125" dirty="0"/>
          </a:p>
        </p:txBody>
      </p:sp>
      <p:sp>
        <p:nvSpPr>
          <p:cNvPr id="51" name="Text 46"/>
          <p:cNvSpPr/>
          <p:nvPr/>
        </p:nvSpPr>
        <p:spPr>
          <a:xfrm>
            <a:off x="8134350" y="971550"/>
            <a:ext cx="9492615" cy="16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788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spectral sensitivities × CIE illuminants · quality-gate limit is 3.0 — every camera sits well inside it</a:t>
            </a:r>
            <a:endParaRPr lang="en-US" sz="788" dirty="0"/>
          </a:p>
        </p:txBody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4350" y="1162050"/>
            <a:ext cx="8629650" cy="1495425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8134350" y="2771775"/>
            <a:ext cx="94926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82"/>
              </a:lnSpc>
              <a:buNone/>
            </a:pPr>
            <a:r>
              <a:rPr lang="en-US" sz="1125" b="1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replay attack, refused</a:t>
            </a:r>
            <a:endParaRPr lang="en-US" sz="1125" dirty="0"/>
          </a:p>
        </p:txBody>
      </p:sp>
      <p:sp>
        <p:nvSpPr>
          <p:cNvPr id="54" name="Text 48"/>
          <p:cNvSpPr/>
          <p:nvPr/>
        </p:nvSpPr>
        <p:spPr>
          <a:xfrm>
            <a:off x="8134350" y="2962275"/>
            <a:ext cx="9492615" cy="16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788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print passes every colour check — it cannot fake depth</a:t>
            </a:r>
            <a:endParaRPr lang="en-US" sz="788" dirty="0"/>
          </a:p>
        </p:txBody>
      </p:sp>
      <p:sp>
        <p:nvSpPr>
          <p:cNvPr id="55" name="Shape 49"/>
          <p:cNvSpPr/>
          <p:nvPr/>
        </p:nvSpPr>
        <p:spPr>
          <a:xfrm>
            <a:off x="8134350" y="3067050"/>
            <a:ext cx="277177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9050">
            <a:solidFill>
              <a:srgbClr val="0F7B6C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8286750" y="3181350"/>
            <a:ext cx="27136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750" b="1" spc="45" kern="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CARD</a:t>
            </a:r>
            <a:endParaRPr lang="en-US" sz="750" dirty="0"/>
          </a:p>
        </p:txBody>
      </p:sp>
      <p:sp>
        <p:nvSpPr>
          <p:cNvPr id="57" name="Text 51"/>
          <p:cNvSpPr/>
          <p:nvPr/>
        </p:nvSpPr>
        <p:spPr>
          <a:xfrm>
            <a:off x="8286750" y="3360911"/>
            <a:ext cx="27136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 px</a:t>
            </a:r>
            <a:endParaRPr lang="en-US" sz="1800" dirty="0"/>
          </a:p>
        </p:txBody>
      </p:sp>
      <p:sp>
        <p:nvSpPr>
          <p:cNvPr id="58" name="Text 52"/>
          <p:cNvSpPr/>
          <p:nvPr/>
        </p:nvSpPr>
        <p:spPr>
          <a:xfrm>
            <a:off x="8286750" y="3654772"/>
            <a:ext cx="2713673" cy="16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 of the 28.2 px the geometry predicts</a:t>
            </a:r>
            <a:endParaRPr lang="en-US" sz="788" dirty="0"/>
          </a:p>
        </p:txBody>
      </p:sp>
      <p:sp>
        <p:nvSpPr>
          <p:cNvPr id="59" name="Text 53"/>
          <p:cNvSpPr/>
          <p:nvPr/>
        </p:nvSpPr>
        <p:spPr>
          <a:xfrm>
            <a:off x="8286750" y="3850035"/>
            <a:ext cx="2713673" cy="16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863" b="1" spc="38" kern="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63" dirty="0"/>
          </a:p>
        </p:txBody>
      </p:sp>
      <p:sp>
        <p:nvSpPr>
          <p:cNvPr id="60" name="Shape 54"/>
          <p:cNvSpPr/>
          <p:nvPr/>
        </p:nvSpPr>
        <p:spPr>
          <a:xfrm>
            <a:off x="11058525" y="3067050"/>
            <a:ext cx="277177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9050">
            <a:solidFill>
              <a:srgbClr val="A32C4A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11210925" y="3181350"/>
            <a:ext cx="27136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750" b="1" spc="45" kern="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PHOTO-LAB PRINT</a:t>
            </a:r>
            <a:endParaRPr lang="en-US" sz="750" dirty="0"/>
          </a:p>
        </p:txBody>
      </p:sp>
      <p:sp>
        <p:nvSpPr>
          <p:cNvPr id="62" name="Text 56"/>
          <p:cNvSpPr/>
          <p:nvPr/>
        </p:nvSpPr>
        <p:spPr>
          <a:xfrm>
            <a:off x="11210925" y="3360911"/>
            <a:ext cx="27136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A32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</a:t>
            </a:r>
            <a:endParaRPr lang="en-US" sz="1800" dirty="0"/>
          </a:p>
        </p:txBody>
      </p:sp>
      <p:sp>
        <p:nvSpPr>
          <p:cNvPr id="63" name="Text 57"/>
          <p:cNvSpPr/>
          <p:nvPr/>
        </p:nvSpPr>
        <p:spPr>
          <a:xfrm>
            <a:off x="11210925" y="3654772"/>
            <a:ext cx="2713673" cy="16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required depth</a:t>
            </a:r>
            <a:endParaRPr lang="en-US" sz="788" dirty="0"/>
          </a:p>
        </p:txBody>
      </p:sp>
      <p:sp>
        <p:nvSpPr>
          <p:cNvPr id="64" name="Text 58"/>
          <p:cNvSpPr/>
          <p:nvPr/>
        </p:nvSpPr>
        <p:spPr>
          <a:xfrm>
            <a:off x="11210925" y="3850035"/>
            <a:ext cx="2713673" cy="16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863" b="1" spc="38" kern="0" dirty="0">
                <a:solidFill>
                  <a:srgbClr val="A32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</a:t>
            </a:r>
            <a:endParaRPr lang="en-US" sz="863" dirty="0"/>
          </a:p>
        </p:txBody>
      </p:sp>
      <p:sp>
        <p:nvSpPr>
          <p:cNvPr id="65" name="Shape 59"/>
          <p:cNvSpPr/>
          <p:nvPr/>
        </p:nvSpPr>
        <p:spPr>
          <a:xfrm>
            <a:off x="13982700" y="3067050"/>
            <a:ext cx="277177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9050">
            <a:solidFill>
              <a:srgbClr val="A32C4A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14135100" y="3181350"/>
            <a:ext cx="27136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48"/>
              </a:lnSpc>
              <a:buNone/>
            </a:pPr>
            <a:r>
              <a:rPr lang="en-US" sz="750" b="1" spc="45" kern="0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HIGH-DPI SCREEN</a:t>
            </a:r>
            <a:endParaRPr lang="en-US" sz="750" dirty="0"/>
          </a:p>
        </p:txBody>
      </p:sp>
      <p:sp>
        <p:nvSpPr>
          <p:cNvPr id="67" name="Text 61"/>
          <p:cNvSpPr/>
          <p:nvPr/>
        </p:nvSpPr>
        <p:spPr>
          <a:xfrm>
            <a:off x="14135100" y="3360911"/>
            <a:ext cx="27136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A32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&lt;1%</a:t>
            </a:r>
            <a:endParaRPr lang="en-US" sz="1800" dirty="0"/>
          </a:p>
        </p:txBody>
      </p:sp>
      <p:sp>
        <p:nvSpPr>
          <p:cNvPr id="68" name="Text 62"/>
          <p:cNvSpPr/>
          <p:nvPr/>
        </p:nvSpPr>
        <p:spPr>
          <a:xfrm>
            <a:off x="14135100" y="3654772"/>
            <a:ext cx="2713673" cy="16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required depth</a:t>
            </a:r>
            <a:endParaRPr lang="en-US" sz="788" dirty="0"/>
          </a:p>
        </p:txBody>
      </p:sp>
      <p:sp>
        <p:nvSpPr>
          <p:cNvPr id="69" name="Text 63"/>
          <p:cNvSpPr/>
          <p:nvPr/>
        </p:nvSpPr>
        <p:spPr>
          <a:xfrm>
            <a:off x="14135100" y="3850035"/>
            <a:ext cx="2713673" cy="16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863" b="1" spc="38" kern="0" dirty="0">
                <a:solidFill>
                  <a:srgbClr val="A32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REFUSED</a:t>
            </a:r>
            <a:endParaRPr lang="en-US" sz="863" dirty="0"/>
          </a:p>
        </p:txBody>
      </p:sp>
      <p:sp>
        <p:nvSpPr>
          <p:cNvPr id="70" name="Text 64"/>
          <p:cNvSpPr/>
          <p:nvPr/>
        </p:nvSpPr>
        <p:spPr>
          <a:xfrm>
            <a:off x="7702868" y="4191000"/>
            <a:ext cx="9492615" cy="16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750"/>
              </a:lnSpc>
              <a:buNone/>
            </a:pPr>
            <a:r>
              <a:rPr lang="en-US" sz="788" i="1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reproduction cannot produce this at any print quality — flatness is the medium, not an artefact.</a:t>
            </a:r>
            <a:endParaRPr lang="en-US" sz="788" dirty="0"/>
          </a:p>
        </p:txBody>
      </p:sp>
      <p:sp>
        <p:nvSpPr>
          <p:cNvPr id="71" name="Text 65"/>
          <p:cNvSpPr/>
          <p:nvPr/>
        </p:nvSpPr>
        <p:spPr>
          <a:xfrm>
            <a:off x="8134350" y="4362450"/>
            <a:ext cx="949261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1125" b="1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simplest classifier wins — so there is no neural network</a:t>
            </a:r>
            <a:endParaRPr lang="en-US" sz="1125" dirty="0"/>
          </a:p>
        </p:txBody>
      </p:sp>
      <p:sp>
        <p:nvSpPr>
          <p:cNvPr id="72" name="Text 66"/>
          <p:cNvSpPr/>
          <p:nvPr/>
        </p:nvSpPr>
        <p:spPr>
          <a:xfrm>
            <a:off x="8134350" y="4560094"/>
            <a:ext cx="9492615" cy="16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50"/>
              </a:lnSpc>
              <a:buNone/>
            </a:pPr>
            <a:r>
              <a:rPr lang="en-US" sz="788" dirty="0">
                <a:solidFill>
                  <a:srgbClr val="5C6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on data the model never saw · no misclassifications on any held-out split</a:t>
            </a:r>
            <a:endParaRPr lang="en-US" sz="788" dirty="0"/>
          </a:p>
        </p:txBody>
      </p:sp>
      <p:sp>
        <p:nvSpPr>
          <p:cNvPr id="73" name="Shape 67"/>
          <p:cNvSpPr/>
          <p:nvPr/>
        </p:nvSpPr>
        <p:spPr>
          <a:xfrm>
            <a:off x="8134350" y="4759598"/>
            <a:ext cx="95250" cy="9525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/>
        </p:spPr>
      </p:sp>
      <p:sp>
        <p:nvSpPr>
          <p:cNvPr id="74" name="Text 68"/>
          <p:cNvSpPr/>
          <p:nvPr/>
        </p:nvSpPr>
        <p:spPr>
          <a:xfrm>
            <a:off x="8277225" y="4752008"/>
            <a:ext cx="1071488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locus ΔE2000</a:t>
            </a:r>
            <a:endParaRPr lang="en-US" sz="788" dirty="0"/>
          </a:p>
        </p:txBody>
      </p:sp>
      <p:sp>
        <p:nvSpPr>
          <p:cNvPr id="75" name="Shape 69"/>
          <p:cNvSpPr/>
          <p:nvPr/>
        </p:nvSpPr>
        <p:spPr>
          <a:xfrm>
            <a:off x="9463013" y="4759598"/>
            <a:ext cx="95250" cy="95250"/>
          </a:xfrm>
          <a:prstGeom prst="roundRect">
            <a:avLst>
              <a:gd name="adj" fmla="val 20000"/>
            </a:avLst>
          </a:prstGeom>
          <a:solidFill>
            <a:srgbClr val="A66A00"/>
          </a:solidFill>
          <a:ln/>
        </p:spPr>
      </p:sp>
      <p:sp>
        <p:nvSpPr>
          <p:cNvPr id="76" name="Text 70"/>
          <p:cNvSpPr/>
          <p:nvPr/>
        </p:nvSpPr>
        <p:spPr>
          <a:xfrm>
            <a:off x="9605888" y="4752008"/>
            <a:ext cx="643384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Mahalanobis</a:t>
            </a:r>
            <a:endParaRPr lang="en-US" sz="788" dirty="0"/>
          </a:p>
        </p:txBody>
      </p:sp>
      <p:sp>
        <p:nvSpPr>
          <p:cNvPr id="77" name="Shape 71"/>
          <p:cNvSpPr/>
          <p:nvPr/>
        </p:nvSpPr>
        <p:spPr>
          <a:xfrm>
            <a:off x="10363572" y="4759598"/>
            <a:ext cx="95250" cy="95250"/>
          </a:xfrm>
          <a:prstGeom prst="roundRect">
            <a:avLst>
              <a:gd name="adj" fmla="val 20000"/>
            </a:avLst>
          </a:prstGeom>
          <a:solidFill>
            <a:srgbClr val="6B3FA0"/>
          </a:solidFill>
          <a:ln/>
        </p:spPr>
      </p:sp>
      <p:sp>
        <p:nvSpPr>
          <p:cNvPr id="78" name="Text 72"/>
          <p:cNvSpPr/>
          <p:nvPr/>
        </p:nvSpPr>
        <p:spPr>
          <a:xfrm>
            <a:off x="10506447" y="4752008"/>
            <a:ext cx="910084" cy="14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8" dirty="0">
                <a:solidFill>
                  <a:srgbClr val="1412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788" dirty="0"/>
          </a:p>
        </p:txBody>
      </p:sp>
      <p:pic>
        <p:nvPicPr>
          <p:cNvPr id="7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34350" y="4876800"/>
            <a:ext cx="8629650" cy="1304925"/>
          </a:xfrm>
          <a:prstGeom prst="rect">
            <a:avLst/>
          </a:prstGeom>
        </p:spPr>
      </p:pic>
      <p:sp>
        <p:nvSpPr>
          <p:cNvPr id="80" name="Shape 73"/>
          <p:cNvSpPr/>
          <p:nvPr/>
        </p:nvSpPr>
        <p:spPr>
          <a:xfrm>
            <a:off x="8134350" y="6296025"/>
            <a:ext cx="277177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9050">
            <a:solidFill>
              <a:srgbClr val="0F7B6C"/>
            </a:solidFill>
            <a:prstDash val="solid"/>
          </a:ln>
        </p:spPr>
      </p:sp>
      <p:sp>
        <p:nvSpPr>
          <p:cNvPr id="81" name="Text 74"/>
          <p:cNvSpPr/>
          <p:nvPr/>
        </p:nvSpPr>
        <p:spPr>
          <a:xfrm>
            <a:off x="8286750" y="6537275"/>
            <a:ext cx="27136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/ 83</a:t>
            </a:r>
            <a:endParaRPr lang="en-US" sz="1800" dirty="0"/>
          </a:p>
        </p:txBody>
      </p:sp>
      <p:sp>
        <p:nvSpPr>
          <p:cNvPr id="82" name="Text 75"/>
          <p:cNvSpPr/>
          <p:nvPr/>
        </p:nvSpPr>
        <p:spPr>
          <a:xfrm>
            <a:off x="8286750" y="6813500"/>
            <a:ext cx="2543175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conditions correctly handled — every risky frame was refused, not guessed</a:t>
            </a:r>
            <a:endParaRPr lang="en-US" sz="788" dirty="0"/>
          </a:p>
        </p:txBody>
      </p:sp>
      <p:sp>
        <p:nvSpPr>
          <p:cNvPr id="83" name="Shape 76"/>
          <p:cNvSpPr/>
          <p:nvPr/>
        </p:nvSpPr>
        <p:spPr>
          <a:xfrm>
            <a:off x="11058525" y="6296025"/>
            <a:ext cx="277177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9050">
            <a:solidFill>
              <a:srgbClr val="0F7B6C"/>
            </a:solidFill>
            <a:prstDash val="solid"/>
          </a:ln>
        </p:spPr>
      </p:sp>
      <p:sp>
        <p:nvSpPr>
          <p:cNvPr id="84" name="Text 77"/>
          <p:cNvSpPr/>
          <p:nvPr/>
        </p:nvSpPr>
        <p:spPr>
          <a:xfrm>
            <a:off x="11210925" y="6537275"/>
            <a:ext cx="27136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3"/>
              </a:lnSpc>
              <a:buNone/>
            </a:pPr>
            <a:r>
              <a:rPr lang="en-US" sz="18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94.5%</a:t>
            </a:r>
            <a:endParaRPr lang="en-US" sz="1800" dirty="0"/>
          </a:p>
        </p:txBody>
      </p:sp>
      <p:sp>
        <p:nvSpPr>
          <p:cNvPr id="85" name="Text 78"/>
          <p:cNvSpPr/>
          <p:nvPr/>
        </p:nvSpPr>
        <p:spPr>
          <a:xfrm>
            <a:off x="11210925" y="6813500"/>
            <a:ext cx="2543175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under an illuminant the model never saw, and every miss was an abstention, never a wrong answer</a:t>
            </a:r>
            <a:endParaRPr lang="en-US" sz="788" dirty="0"/>
          </a:p>
        </p:txBody>
      </p:sp>
      <p:sp>
        <p:nvSpPr>
          <p:cNvPr id="86" name="Shape 79"/>
          <p:cNvSpPr/>
          <p:nvPr/>
        </p:nvSpPr>
        <p:spPr>
          <a:xfrm>
            <a:off x="13982700" y="6296025"/>
            <a:ext cx="277177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14135100" y="6546800"/>
            <a:ext cx="271367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65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 vs 28.2 px</a:t>
            </a:r>
            <a:endParaRPr lang="en-US" sz="1650" dirty="0"/>
          </a:p>
        </p:txBody>
      </p:sp>
      <p:sp>
        <p:nvSpPr>
          <p:cNvPr id="88" name="Text 81"/>
          <p:cNvSpPr/>
          <p:nvPr/>
        </p:nvSpPr>
        <p:spPr>
          <a:xfrm>
            <a:off x="14135100" y="6803975"/>
            <a:ext cx="2543175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788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against predicted parallax on a physical card — the geometry matches to 99.6%</a:t>
            </a:r>
            <a:endParaRPr lang="en-US" sz="788" dirty="0"/>
          </a:p>
        </p:txBody>
      </p:sp>
      <p:sp>
        <p:nvSpPr>
          <p:cNvPr id="89" name="Text 82"/>
          <p:cNvSpPr/>
          <p:nvPr/>
        </p:nvSpPr>
        <p:spPr>
          <a:xfrm>
            <a:off x="-647700" y="7591425"/>
            <a:ext cx="18440400" cy="1742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25" i="1" dirty="0">
                <a:solidFill>
                  <a:srgbClr val="9A9A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measured on synthetic frames or on measured spectral data. None is a field accuracy: no printed card has been photographed yet, and the capture matrix is the critical path.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2026-09-08T20:24:46Z</dcterms:created>
  <dcterms:modified xsi:type="dcterms:W3CDTF">2026-09-08T20:24:46Z</dcterms:modified>
</cp:coreProperties>
</file>