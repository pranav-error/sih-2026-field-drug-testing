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buNone/>
            </a:pPr>
            <a:r>
              <a:rPr sz="1700" b="1">
                <a:solidFill>
                  <a:srgbClr val="0070C0"/>
                </a:solidFill>
                <a:latin typeface="Arial"/>
              </a:rPr>
              <a:t>Problem Statement ID  –  SIH26231</a:t>
            </a:r>
            <a:endParaRPr lang="en-US" dirty="0"/>
          </a:p>
          <a:p>
            <a:pPr>
              <a:spcAft>
                <a:spcPts val="900"/>
              </a:spcAft>
              <a:buNone/>
            </a:pPr>
            <a:r>
              <a:rPr sz="1500" b="0">
                <a:solidFill>
                  <a:srgbClr val="1A1726"/>
                </a:solidFill>
                <a:latin typeface="Arial"/>
              </a:rPr>
              <a:t>Problem Statement Title  –  Digital Companion for Field Drug Testing</a:t>
            </a:r>
          </a:p>
          <a:p>
            <a:pPr>
              <a:spcAft>
                <a:spcPts val="900"/>
              </a:spcAft>
              <a:buNone/>
            </a:pPr>
            <a:r>
              <a:rPr sz="1400" b="0">
                <a:solidFill>
                  <a:srgbClr val="1A1726"/>
                </a:solidFill>
                <a:latin typeface="Arial"/>
              </a:rPr>
              <a:t>Theme  –  MedTech / BioTech / HealthTech</a:t>
            </a:r>
          </a:p>
          <a:p>
            <a:pPr>
              <a:spcAft>
                <a:spcPts val="900"/>
              </a:spcAft>
              <a:buNone/>
            </a:pPr>
            <a:r>
              <a:rPr sz="1400" b="0">
                <a:solidFill>
                  <a:srgbClr val="1A1726"/>
                </a:solidFill>
                <a:latin typeface="Arial"/>
              </a:rPr>
              <a:t>PS Category  –  Software</a:t>
            </a:r>
          </a:p>
          <a:p>
            <a:pPr>
              <a:spcAft>
                <a:spcPts val="900"/>
              </a:spcAft>
              <a:buNone/>
            </a:pPr>
            <a:r>
              <a:rPr sz="1400" b="0">
                <a:solidFill>
                  <a:srgbClr val="808080"/>
                </a:solidFill>
                <a:latin typeface="Arial"/>
              </a:rPr>
              <a:t>Team ID  –  «TEAM ID»</a:t>
            </a:r>
          </a:p>
          <a:p>
            <a:pPr>
              <a:spcAft>
                <a:spcPts val="900"/>
              </a:spcAft>
              <a:buNone/>
            </a:pPr>
            <a:r>
              <a:rPr sz="1400" b="0">
                <a:solidFill>
                  <a:srgbClr val="808080"/>
                </a:solidFill>
                <a:latin typeface="Arial"/>
              </a:rPr>
              <a:t>Team Name  –  «TEAM NAME as registered on the portal»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91440"/>
            <a:ext cx="7863840" cy="914400"/>
          </a:xfrm>
        </p:spPr>
        <p:txBody>
          <a:bodyPr wrap="square"/>
          <a:lstStyle/>
          <a:p>
            <a:pPr eaLnBrk="1" hangingPunct="1">
              <a:spcAft>
                <a:spcPts val="500"/>
              </a:spcAft>
              <a:buNone/>
            </a:pPr>
            <a:r>
              <a:rPr sz="3000" b="1">
                <a:solidFill>
                  <a:srgbClr val="0070C0"/>
                </a:solidFill>
                <a:latin typeface="Arial"/>
              </a:rPr>
              <a:t>THE RECORD IS THE PRODUCT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1207008"/>
            <a:ext cx="1133856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sz="1200" b="0">
                <a:solidFill>
                  <a:srgbClr val="1A1726"/>
                </a:solidFill>
                <a:latin typeface="Arial"/>
              </a:rPr>
              <a:t>THE PROBLEM IS NOT THE COLOUR.  The problem statement says it plainly: a field test "leaves no verifiable record… outcomes cannot presently be relied upon as documentary evidence."  Reading a colour is an undergraduate exercise — and the naive app already ships commercially (DetectaChem MobileDetect).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  <a:buNone/>
            </a:pPr>
            <a:r>
              <a:rPr sz="1200" b="0">
                <a:solidFill>
                  <a:srgbClr val="1A1726"/>
                </a:solidFill>
                <a:latin typeface="Arial"/>
              </a:rPr>
              <a:t>OUR SOLUTION.  The measurement is bound, at the instant of capture, into a hardware-attested, append-only record that anyone can re-derive offline — and that emits a Bharatiya Sakshya Adhiniyam Section 63 certificate and hands off to eSakshya / CCTNS-2.0.</a:t>
            </a:r>
          </a:p>
          <a:p>
            <a:pPr>
              <a:spcAft>
                <a:spcPts val="600"/>
              </a:spcAft>
              <a:buNone/>
            </a:pPr>
            <a:r>
              <a:rPr sz="1200" b="1">
                <a:solidFill>
                  <a:srgbClr val="0070C0"/>
                </a:solidFill>
                <a:latin typeface="Arial"/>
              </a:rPr>
              <a:t>WHAT IS ACTUALLY NEW:</a:t>
            </a:r>
          </a:p>
          <a:p>
            <a:pPr lvl="1">
              <a:spcAft>
                <a:spcPts val="600"/>
              </a:spcAft>
              <a:buNone/>
            </a:pPr>
            <a:r>
              <a:rPr sz="1150" b="0">
                <a:solidFill>
                  <a:srgbClr val="1A1726"/>
                </a:solidFill>
                <a:latin typeface="Arial"/>
              </a:rPr>
              <a:t>Kit-agnostic — reagent is declared, not read from a vendor's serialised pouch, as the PS requires</a:t>
            </a:r>
          </a:p>
          <a:p>
            <a:pPr lvl="1">
              <a:spcAft>
                <a:spcPts val="600"/>
              </a:spcAft>
              <a:buNone/>
            </a:pPr>
            <a:r>
              <a:rPr sz="1150" b="0">
                <a:solidFill>
                  <a:srgbClr val="1A1726"/>
                </a:solidFill>
                <a:latin typeface="Arial"/>
              </a:rPr>
              <a:t>"Inconclusive" carries a stated error bound (conformal prediction), not a softmax confidence a court cannot cross-examine</a:t>
            </a:r>
          </a:p>
          <a:p>
            <a:pPr lvl="1">
              <a:spcAft>
                <a:spcPts val="600"/>
              </a:spcAft>
              <a:buNone/>
            </a:pPr>
            <a:r>
              <a:rPr sz="1150" b="0">
                <a:solidFill>
                  <a:srgbClr val="1A1726"/>
                </a:solidFill>
                <a:latin typeface="Arial"/>
              </a:rPr>
              <a:t>Two independently written verifiers that agree — a single implementation agreeing with itself proves nothing</a:t>
            </a:r>
          </a:p>
          <a:p>
            <a:pPr lvl="1">
              <a:spcAft>
                <a:spcPts val="600"/>
              </a:spcAft>
              <a:buNone/>
            </a:pPr>
            <a:r>
              <a:rPr sz="1150" b="0">
                <a:solidFill>
                  <a:srgbClr val="1A1726"/>
                </a:solidFill>
                <a:latin typeface="Arial"/>
              </a:rPr>
              <a:t>The statutory certificate is emitted, not left as an exercise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«TEAM NAME as registered on the portal»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1691640" y="786384"/>
            <a:ext cx="7863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250" b="0">
                <a:solidFill>
                  <a:srgbClr val="808080"/>
                </a:solidFill>
                <a:latin typeface="Arial"/>
              </a:rPr>
              <a:t>not the colour reading — that part is an undergraduate exercise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11480" y="334670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300" b="1">
                <a:solidFill>
                  <a:srgbClr val="1A1726"/>
                </a:solidFill>
                <a:latin typeface="Arial"/>
              </a:rPr>
              <a:t>No new hardware: a printed colour card and the phone already issued.</a:t>
            </a:r>
          </a:p>
        </p:txBody>
      </p:sp>
      <p:pic>
        <p:nvPicPr>
          <p:cNvPr id="15365" name="Picture 15364" descr="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03904"/>
            <a:ext cx="10789920" cy="22987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024128"/>
            <a:ext cx="11338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None/>
            </a:pPr>
            <a:r>
              <a:rPr sz="1200" b="0">
                <a:solidFill>
                  <a:srgbClr val="1A1726"/>
                </a:solidFill>
                <a:latin typeface="Arial"/>
              </a:rPr>
              <a:t>Flutter (Android) · OpenCV/ArUco · CIELAB + CIEDE2000 · conformal prediction · canonical CBOR + SHA-256 · ECDSA P-256 in StrongBox/TEE · verifiers in Python and Dart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«TEAM NAME as registered on the portal»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572768"/>
            <a:ext cx="11521440" cy="4325796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411480" y="5953427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050" b="0">
                <a:solidFill>
                  <a:srgbClr val="1A1726"/>
                </a:solidFill>
                <a:latin typeface="Arial"/>
              </a:rPr>
              <a:t>WHY DETERMINISTIC, NOT A NEURAL NETWORK:  a least-squares colour transform is auditable and defensible in court. We ablated a learned classifier against it on 8,064 measurements rendered from 28 measured camera sensitivities — the closed-form score won on every split, so there is no learned component and no TFLite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024128"/>
            <a:ext cx="1133856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200" b="0">
                <a:solidFill>
                  <a:srgbClr val="1A1726"/>
                </a:solidFill>
                <a:latin typeface="Arial"/>
              </a:rPr>
              <a:t>FEASIBLE TODAY: no new hardware, works with kits already purchased, runs fully offline, and a working core already exists — 341 automated tests, both verifiers agreeing on every record.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«TEAM NAME as registered on the portal»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ri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47088"/>
            <a:ext cx="10058400" cy="3308443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411480" y="5201251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100" b="1">
                <a:solidFill>
                  <a:srgbClr val="A32C4A"/>
                </a:solidFill>
                <a:latin typeface="Arial"/>
              </a:rPr>
              <a:t>We list the attack we have NOT solved. A threat model that overstates its defences is worth less than none — a judge who finds the gap first concludes we never looked.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024128"/>
            <a:ext cx="11338560" cy="731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200" b="0">
                <a:solidFill>
                  <a:srgbClr val="1A1726"/>
                </a:solidFill>
                <a:latin typeface="Arial"/>
              </a:rPr>
              <a:t>Turns a presumptive field test from an unusable note into an artefact a court can test — without building a second evidence store for the State to maintain.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«TEAM NAME as registered on the portal»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55648"/>
            <a:ext cx="10789920" cy="313065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411480" y="4941164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1050" b="0">
                <a:solidFill>
                  <a:srgbClr val="808080"/>
                </a:solidFill>
                <a:latin typeface="Arial"/>
              </a:rPr>
              <a:t>Deliberately NOT built: a confirmatory test, a national database of results, or any scoring of persons. CCTNS-2.0 stays the system of record; a parallel silo would add a surveillance surface and a liability for no benefit.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078992"/>
            <a:ext cx="745236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250" b="1">
                <a:solidFill>
                  <a:srgbClr val="0070C0"/>
                </a:solidFill>
                <a:latin typeface="Arial"/>
              </a:rPr>
              <a:t>STATUTE &amp; GOVERNMENT SYSTEMS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400"/>
              </a:spcAft>
              <a:buNone/>
            </a:pPr>
            <a:r>
              <a:rPr sz="1050" b="0">
                <a:solidFill>
                  <a:srgbClr val="1A1726"/>
                </a:solidFill>
                <a:latin typeface="Arial"/>
              </a:rPr>
              <a:t>Bharatiya Sakshya Adhiniyam 2023, Section 63 + the Schedule (certificate, Parts A and B; hash value and algorithm required)  ·  indiankanoon.org/doc/125020475</a:t>
            </a:r>
          </a:p>
          <a:p>
            <a:pPr lvl="1">
              <a:spcAft>
                <a:spcPts val="400"/>
              </a:spcAft>
              <a:buNone/>
            </a:pPr>
            <a:r>
              <a:rPr sz="1050" b="0">
                <a:solidFill>
                  <a:srgbClr val="1A1726"/>
                </a:solidFill>
                <a:latin typeface="Arial"/>
              </a:rPr>
              <a:t>NDPS (Seizure, Storage, Sampling and Disposal) Rules 2022 — GSR 899(E)  ·  eSakshya, NCRB / CCTNS-2.0  ·  informatics.nic.in</a:t>
            </a:r>
          </a:p>
          <a:p>
            <a:pPr>
              <a:spcAft>
                <a:spcPts val="400"/>
              </a:spcAft>
              <a:buNone/>
            </a:pPr>
            <a:r>
              <a:rPr sz="1250" b="1">
                <a:solidFill>
                  <a:srgbClr val="0070C0"/>
                </a:solidFill>
                <a:latin typeface="Arial"/>
              </a:rPr>
              <a:t>PRIOR ART — CONCEDED, NOT IGNORED</a:t>
            </a:r>
          </a:p>
          <a:p>
            <a:pPr lvl="1">
              <a:spcAft>
                <a:spcPts val="400"/>
              </a:spcAft>
              <a:buNone/>
            </a:pPr>
            <a:r>
              <a:rPr sz="1050" b="0">
                <a:solidFill>
                  <a:srgbClr val="1A1726"/>
                </a:solidFill>
                <a:latin typeface="Arial"/>
              </a:rPr>
              <a:t>DetectaChem MobileDetect: smartphone + colorimetric pouches, GPS-tagged PDF reports. The naive solution is a shipping product; our claim is narrower and sits in the binding, the abstention bound and the verifiability.</a:t>
            </a:r>
          </a:p>
          <a:p>
            <a:pPr>
              <a:spcAft>
                <a:spcPts val="400"/>
              </a:spcAft>
              <a:buNone/>
            </a:pPr>
            <a:r>
              <a:rPr sz="1250" b="1">
                <a:solidFill>
                  <a:srgbClr val="0070C0"/>
                </a:solidFill>
                <a:latin typeface="Arial"/>
              </a:rPr>
              <a:t>METHOD</a:t>
            </a:r>
          </a:p>
          <a:p>
            <a:pPr lvl="1">
              <a:spcAft>
                <a:spcPts val="400"/>
              </a:spcAft>
              <a:buNone/>
            </a:pPr>
            <a:r>
              <a:rPr sz="1050" b="0">
                <a:solidFill>
                  <a:srgbClr val="1A1726"/>
                </a:solidFill>
                <a:latin typeface="Arial"/>
              </a:rPr>
              <a:t>Finlayson et al., root-polynomial colour correction (exposure-invariant)  ·  Sharma, Wu &amp; Dalal (2005), CIEDE2000 conformance data  ·  Vovk et al., conformal prediction  ·  Android key attestation &amp; StrongBox (AOSP)</a:t>
            </a:r>
          </a:p>
          <a:p>
            <a:pPr>
              <a:spcAft>
                <a:spcPts val="400"/>
              </a:spcAft>
              <a:buNone/>
            </a:pPr>
            <a:r>
              <a:rPr sz="1250" b="1">
                <a:solidFill>
                  <a:srgbClr val="0070C0"/>
                </a:solidFill>
                <a:latin typeface="Arial"/>
              </a:rPr>
              <a:t>MEASURED DATA USED IN OUR EVALUATION</a:t>
            </a:r>
          </a:p>
          <a:p>
            <a:pPr lvl="1">
              <a:spcAft>
                <a:spcPts val="400"/>
              </a:spcAft>
              <a:buNone/>
            </a:pPr>
            <a:r>
              <a:rPr sz="1050" b="0">
                <a:solidFill>
                  <a:srgbClr val="1A1726"/>
                </a:solidFill>
                <a:latin typeface="Arial"/>
              </a:rPr>
              <a:t>Jiang, Liu, Gu &amp; Süsstrunk (2013) camera spectral sensitivity database, 28 cameras — Zenodo 3245883, CC BY-NC-SA 4.0  ·  CIE illuminant SPDs, 1931 observer and ColorChecker reflectances via colour-science (BSD-3)</a:t>
            </a:r>
          </a:p>
          <a:p>
            <a:pPr>
              <a:spcAft>
                <a:spcPts val="400"/>
              </a:spcAft>
              <a:buNone/>
            </a:pPr>
            <a:r>
              <a:rPr sz="1250" b="1">
                <a:solidFill>
                  <a:srgbClr val="A32C4A"/>
                </a:solidFill>
                <a:latin typeface="Arial"/>
              </a:rPr>
              <a:t>STATED LIMITATION</a:t>
            </a:r>
          </a:p>
          <a:p>
            <a:pPr lvl="1">
              <a:spcAft>
                <a:spcPts val="400"/>
              </a:spcAft>
              <a:buNone/>
            </a:pPr>
            <a:r>
              <a:rPr sz="1050" b="0">
                <a:solidFill>
                  <a:srgbClr val="1A1726"/>
                </a:solidFill>
                <a:latin typeface="Arial"/>
              </a:rPr>
              <a:t>No public dataset of colorimetric drug-test images exists, and no spectral library of NDPS reagent developments. Our classifier is calibrated on surrogate colour targets. Substituting NCB reagent standards is a DATA change, not an architecture change: L1 and L3–L7 are substance-independent by construction.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«TEAM NAME as registered on the portal»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reference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188720"/>
            <a:ext cx="3246120" cy="2656371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8275320" y="3899954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850" b="0">
                <a:solidFill>
                  <a:srgbClr val="808080"/>
                </a:solidFill>
                <a:latin typeface="Arial"/>
              </a:rPr>
              <a:t>The only physical artefact: a matte A4 print — fiducials, 15 reagent-gamut patches, 8 neutrals, reaction well.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275320" y="4466883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70C0"/>
                </a:solidFill>
                <a:latin typeface="Arial"/>
              </a:rPr>
              <a:t>REPRODUCIBILITY</a:t>
            </a:r>
          </a:p>
          <a:p>
            <a:pPr>
              <a:spcAft>
                <a:spcPts val="300"/>
              </a:spcAft>
              <a:buNone/>
            </a:pPr>
            <a:r>
              <a:rPr sz="900" b="0">
                <a:solidFill>
                  <a:srgbClr val="1A1726"/>
                </a:solidFill>
                <a:latin typeface="Arial"/>
              </a:rPr>
              <a:t>Working code, 341 automated tests, and every figure on these slides regenerable from one command.</a:t>
            </a:r>
          </a:p>
          <a:p>
            <a:pPr>
              <a:spcAft>
                <a:spcPts val="300"/>
              </a:spcAft>
              <a:buNone/>
            </a:pPr>
            <a:r>
              <a:rPr sz="900" b="0">
                <a:solidFill>
                  <a:srgbClr val="1A1726"/>
                </a:solidFill>
                <a:latin typeface="Arial"/>
              </a:rPr>
              <a:t>Every number here is measured on synthetic frames or measured spectral data — none is a field accuracy. The physical capture set is the critical path, and we say so.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