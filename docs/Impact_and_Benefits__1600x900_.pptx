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240000" cy="8572500"/>
  <p:notesSz cx="85725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of the problem in the navy band; impact on the four target audiences; then judicial, economic and operational benefits of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2857500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285750"/>
            <a:ext cx="2832690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975" b="1" spc="2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THE PROBLEM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5191125" y="781050"/>
            <a:ext cx="9525" cy="13811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96500" y="781050"/>
            <a:ext cx="9525" cy="13811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742950"/>
            <a:ext cx="48196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3.96</a:t>
            </a:r>
            <a:pPr algn="l" indent="0" marL="0">
              <a:lnSpc>
                <a:spcPct val="87129"/>
              </a:lnSpc>
              <a:buNone/>
            </a:pPr>
            <a:r>
              <a:rPr lang="en-US" sz="30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LAKH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71500" y="1714500"/>
            <a:ext cx="481965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NDPS cases pending in Indian courts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571500" y="2007840"/>
            <a:ext cx="48196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 directive to States,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76875" y="742950"/>
            <a:ext cx="48196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5476875" y="1714500"/>
            <a:ext cx="481965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NDPS courts nationwide — 22 states have none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476875" y="2007840"/>
            <a:ext cx="48196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MHA,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82250" y="742950"/>
            <a:ext cx="47148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6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1,44,812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10382250" y="1714500"/>
            <a:ext cx="4414838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Persons arrested under NDPS in 2022, up from 81,778 in 2018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0382250" y="2234505"/>
            <a:ext cx="471487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NCRB, Crime in India 2022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1500" y="2533650"/>
            <a:ext cx="15506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112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is scaling faster than the evidentiary system that has to carry it.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71500" y="3143250"/>
            <a:ext cx="2658911" cy="17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900" b="1" spc="210" kern="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TARGET AUDIENCE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1500" y="3486150"/>
            <a:ext cx="3238500" cy="381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" y="3695700"/>
            <a:ext cx="3562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NCB &amp; POLICE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" y="4086225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presumptive result becomes documentary evidence, not a note in a diary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1500" y="4659511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reagent kits already purchased — no vendor lock-in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91000" y="3486150"/>
            <a:ext cx="3238500" cy="3810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22" name="Text 20"/>
          <p:cNvSpPr/>
          <p:nvPr/>
        </p:nvSpPr>
        <p:spPr>
          <a:xfrm>
            <a:off x="4191000" y="3695700"/>
            <a:ext cx="3562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91000" y="4086225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Seizure integrity is provable from the record, not argued months later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91000" y="4659511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BSA §63 certificate auto-populated at the moment of capture, in force since 1 July 2024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10500" y="3486150"/>
            <a:ext cx="3238500" cy="381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6" name="Text 24"/>
          <p:cNvSpPr/>
          <p:nvPr/>
        </p:nvSpPr>
        <p:spPr>
          <a:xfrm>
            <a:off x="7810500" y="3695700"/>
            <a:ext cx="3562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ACCUSED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10500" y="4086225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disagreement and quality failure is recorded, not suppressed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10500" y="4659511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verify offline, trusting neither the app nor us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430000" y="3486150"/>
            <a:ext cx="3238500" cy="38100"/>
          </a:xfrm>
          <a:prstGeom prst="rect">
            <a:avLst/>
          </a:prstGeom>
          <a:solidFill>
            <a:srgbClr val="A66A00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0" y="3695700"/>
            <a:ext cx="3562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500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LABS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30000" y="4086225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criminal laws mandate forensics for offences ≥7 years, raising lab load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30000" y="4659511"/>
            <a:ext cx="333565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375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records let labs triage — this does not replace confirmatory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1500" y="5829300"/>
            <a:ext cx="2506251" cy="175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900" b="1" spc="210" kern="0" dirty="0">
                <a:solidFill>
                  <a:srgbClr val="8A8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1500" y="6229350"/>
            <a:ext cx="876300" cy="876300"/>
          </a:xfrm>
          <a:prstGeom prst="roundRect">
            <a:avLst>
              <a:gd name="adj" fmla="val 19565"/>
            </a:avLst>
          </a:prstGeom>
          <a:solidFill>
            <a:srgbClr val="0F7B6C"/>
          </a:solidFill>
          <a:ln/>
        </p:spPr>
      </p:sp>
      <p:sp>
        <p:nvSpPr>
          <p:cNvPr id="35" name="Text 33"/>
          <p:cNvSpPr/>
          <p:nvPr/>
        </p:nvSpPr>
        <p:spPr>
          <a:xfrm>
            <a:off x="533400" y="6229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§63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638300" y="6229350"/>
            <a:ext cx="370903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JUDICIAL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638300" y="6588919"/>
            <a:ext cx="3473006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auto-populated at capture with hash value and algorithm. Under §52A, certified inventories are primary evidence — this makes the field step verifiable too.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91150" y="6229350"/>
            <a:ext cx="876300" cy="876300"/>
          </a:xfrm>
          <a:prstGeom prst="roundRect">
            <a:avLst>
              <a:gd name="adj" fmla="val 19565"/>
            </a:avLst>
          </a:prstGeom>
          <a:solidFill>
            <a:srgbClr val="0070C0"/>
          </a:solidFill>
          <a:ln/>
        </p:spPr>
      </p:sp>
      <p:sp>
        <p:nvSpPr>
          <p:cNvPr id="39" name="Text 37"/>
          <p:cNvSpPr/>
          <p:nvPr/>
        </p:nvSpPr>
        <p:spPr>
          <a:xfrm>
            <a:off x="5353050" y="6229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</a:t>
            </a:r>
            <a:endParaRPr lang="en-US" sz="2550" dirty="0"/>
          </a:p>
        </p:txBody>
      </p:sp>
      <p:sp>
        <p:nvSpPr>
          <p:cNvPr id="40" name="Text 38"/>
          <p:cNvSpPr/>
          <p:nvPr/>
        </p:nvSpPr>
        <p:spPr>
          <a:xfrm>
            <a:off x="6457950" y="6229350"/>
            <a:ext cx="370903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6457950" y="6588919"/>
            <a:ext cx="347300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printed card, matte A4, four-up. Zero new hardware against a ₹2,080 cr national forensic modernisation spend.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210800" y="6229350"/>
            <a:ext cx="876300" cy="876300"/>
          </a:xfrm>
          <a:prstGeom prst="roundRect">
            <a:avLst>
              <a:gd name="adj" fmla="val 19565"/>
            </a:avLst>
          </a:prstGeom>
          <a:solidFill>
            <a:srgbClr val="A66A00"/>
          </a:solidFill>
          <a:ln/>
        </p:spPr>
      </p:sp>
      <p:sp>
        <p:nvSpPr>
          <p:cNvPr id="43" name="Text 41"/>
          <p:cNvSpPr/>
          <p:nvPr/>
        </p:nvSpPr>
        <p:spPr>
          <a:xfrm>
            <a:off x="10172700" y="6229350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8s</a:t>
            </a:r>
            <a:endParaRPr lang="en-US" sz="2550" dirty="0"/>
          </a:p>
        </p:txBody>
      </p:sp>
      <p:sp>
        <p:nvSpPr>
          <p:cNvPr id="44" name="Text 42"/>
          <p:cNvSpPr/>
          <p:nvPr/>
        </p:nvSpPr>
        <p:spPr>
          <a:xfrm>
            <a:off x="11277600" y="6229350"/>
            <a:ext cx="3729990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0B2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1277600" y="6588919"/>
            <a:ext cx="349262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frames, fully offline. Plugs into eSakshya / CCTNS-2.0 — no parallel evidence silo, and records cannot be deleted or reordered.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86500" y="7867650"/>
            <a:ext cx="83820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Presumptive screening only. Does not replace laboratory confirmation under NDPS procedure.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2026-09-08T20:47:43Z</dcterms:created>
  <dcterms:modified xsi:type="dcterms:W3CDTF">2026-09-08T20:47:43Z</dcterms:modified>
</cp:coreProperties>
</file>